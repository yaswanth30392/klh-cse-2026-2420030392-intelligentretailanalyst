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B780-5D18-D637-FD04-5122CC27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705AB-6483-8447-3F6E-4BE844F36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12B16-6AFA-A85E-ED37-67C5F978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C911F-F6B7-8C4D-C0C6-FAD34DD0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C8D7C-FE13-AC22-7663-F8927DB5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37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137C-2CEF-D498-CACA-DF9E88AF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CB53-6C74-E882-3B51-5562BAC0E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4349E-D553-6C05-A872-9C6C9E11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8230D-9E41-FE8C-12B8-AB518465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5C0E-83A2-BCBD-5992-56EFBE2E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45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940D-AE1E-97BD-88B7-2E76685ED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628B5-8297-BDB6-2AB5-E17804F89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EBD3B-27FB-2EF5-F0E0-E7019F73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B69D-D4D0-1D70-5D6F-5A4B7624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489AE-D7C6-E97C-BBFB-0C5CE0F1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13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56B8-296E-DBF0-E07C-0AFCEBBC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0CB6-8303-8160-ED7C-676181141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6D051-2CE9-D12D-F8CE-22FD6C6E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82B43-DC04-E03C-B00E-3BFCBAC7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D9423-C2C8-C411-CF2B-69F85FD0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FBF6D-5A8F-CD78-4E29-9EF20637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1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3089-F210-AE69-DE47-0F904C4A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5AB2-9640-B120-B405-15520AE6E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25875-0A0A-46EF-5CAE-3AD6ED13C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F4B5C-B9B2-2460-C8E8-E7E195244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88D5-97C1-2006-D511-C9BB14782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9D0F3-71DD-E6F8-145B-98DF974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6A340-C1C1-51A2-E7F8-8AE5B8A1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3917F-522D-D64B-926B-961090FA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72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FE67-0642-257D-04CB-0DF91E43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68A5A-DFBB-3FD2-2AD4-698E2CA9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13080-894F-39AC-453E-71A51CED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53C97-9A36-2C5D-4BE6-376B10B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1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72366-AE31-35FC-CD56-97047BB2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E9E13-0AEF-3C33-FD26-A8E3BD30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B7D1A-63F4-BB3A-BAE6-031510A13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0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393A-16A0-2BC5-893D-5655A157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B4867-8EA5-0219-D114-CFFAD024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83872-4631-B9B1-1950-2D7DB8060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6A0E6-CC17-E124-192B-F3A4B22E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A0F6B-A101-AF3B-628D-35FA8507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46C68-D1D3-5682-FCAD-79E56E41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1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5C71-607D-9832-245E-B8EB5CF4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B269C1-65A1-42B4-5F84-20D04B080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9CDEA-3B2A-075D-44DC-5274BA948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6A2-4641-9306-A2D2-B2382E32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BECB-41E2-9291-D800-3294AF60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81DDD-6F35-4842-B7DE-B2C2927E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7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C7D6-77BB-89B6-EF52-311C9660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D3DE-9979-4445-82D2-4DF3510D9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52F15-8927-AB63-ADBE-0793E02A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3BCDB-FF80-7B5A-C3F7-249079FC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2F61-7D97-F333-A108-7AA406F7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58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EB62D-879B-77D9-4797-72BDF5154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C4970-E72C-F2CC-06BD-CE54768A6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74A18-9595-AD9B-7668-4B519B55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CB218-5758-6CA9-D899-DC08E98D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606B9-30AF-24D4-2D51-3CE11618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87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43391-8ADB-8345-A7BE-D11D1F58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6A7F1-4A92-FAD0-DC0D-1BB7EE07D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EAEF9-5826-83FB-B2BB-693BE64D7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E01D4-0D39-4E94-A2C7-C7FE8FACDF9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83B94-314F-20EF-584B-D269DB90F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2C4D-7BDF-0547-FBFC-F145B09D3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91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205E-423D-20E6-0CDF-65EB12BAC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ConsumerIQ</a:t>
            </a:r>
            <a:r>
              <a:rPr lang="en-IN" dirty="0"/>
              <a:t>: An Explainable AI Framework for Intelligent Customer Analytics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A010B-AE7E-1579-E953-B7DC6A36A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lnSpc>
                <a:spcPct val="133000"/>
              </a:lnSpc>
            </a:pPr>
            <a:r>
              <a:rPr lang="en-US" dirty="0"/>
              <a:t>BATCH – 19</a:t>
            </a:r>
          </a:p>
          <a:p>
            <a:pPr algn="l">
              <a:lnSpc>
                <a:spcPct val="133000"/>
              </a:lnSpc>
            </a:pPr>
            <a:r>
              <a:rPr lang="en-US" dirty="0"/>
              <a:t>2420030500 - P Aashish</a:t>
            </a:r>
          </a:p>
          <a:p>
            <a:pPr algn="l">
              <a:lnSpc>
                <a:spcPct val="133000"/>
              </a:lnSpc>
            </a:pPr>
            <a:r>
              <a:rPr lang="en-US" dirty="0"/>
              <a:t>2420030027 – P Umesh</a:t>
            </a:r>
          </a:p>
          <a:p>
            <a:pPr algn="l">
              <a:lnSpc>
                <a:spcPct val="133000"/>
              </a:lnSpc>
            </a:pPr>
            <a:r>
              <a:rPr lang="en-US" dirty="0"/>
              <a:t>2420030392 – B Yaswanth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71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4889-BFF7-1990-196A-9E5F36D2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984" y="365125"/>
            <a:ext cx="8052816" cy="1325563"/>
          </a:xfrm>
        </p:spPr>
        <p:txBody>
          <a:bodyPr/>
          <a:lstStyle/>
          <a:p>
            <a:r>
              <a:rPr lang="en-IN" b="1" dirty="0">
                <a:highlight>
                  <a:srgbClr val="C0C0C0"/>
                </a:highlight>
              </a:rPr>
              <a:t>Problem Statement</a:t>
            </a:r>
            <a:br>
              <a:rPr lang="en-IN" b="1" dirty="0">
                <a:highlight>
                  <a:srgbClr val="C0C0C0"/>
                </a:highlight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76D0-909C-7481-71BF-939B01FE5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Modern retail platforms generate large amounts of customer, transaction, product, and </a:t>
            </a:r>
            <a:r>
              <a:rPr lang="en-IN" dirty="0" err="1"/>
              <a:t>behavioral</a:t>
            </a:r>
            <a:r>
              <a:rPr lang="en-IN" dirty="0"/>
              <a:t> data, but these are often </a:t>
            </a:r>
            <a:r>
              <a:rPr lang="en-IN" dirty="0" err="1"/>
              <a:t>analyzed</a:t>
            </a:r>
            <a:r>
              <a:rPr lang="en-IN" dirty="0"/>
              <a:t> separately.</a:t>
            </a:r>
            <a:br>
              <a:rPr lang="en-IN" dirty="0"/>
            </a:br>
            <a:r>
              <a:rPr lang="en-IN" dirty="0"/>
              <a:t>Existing approaches mainly focus on individual tasks such as </a:t>
            </a:r>
            <a:r>
              <a:rPr lang="en-IN" b="1" dirty="0"/>
              <a:t>customer segmentation, churn, purchase prediction, recommendation, or CLV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There is a need for an </a:t>
            </a:r>
            <a:r>
              <a:rPr lang="en-IN" b="1" dirty="0"/>
              <a:t>integrated system</a:t>
            </a:r>
            <a:r>
              <a:rPr lang="en-IN" dirty="0"/>
              <a:t> that combines these analytics to understand customer </a:t>
            </a:r>
            <a:r>
              <a:rPr lang="en-IN" dirty="0" err="1"/>
              <a:t>behavior</a:t>
            </a:r>
            <a:r>
              <a:rPr lang="en-IN" dirty="0"/>
              <a:t> and predict future outcomes.</a:t>
            </a:r>
            <a:br>
              <a:rPr lang="en-IN" dirty="0"/>
            </a:br>
            <a:r>
              <a:rPr lang="en-IN" b="1" dirty="0" err="1"/>
              <a:t>ConsumerIQ</a:t>
            </a:r>
            <a:r>
              <a:rPr lang="en-IN" b="1" dirty="0"/>
              <a:t> addresses this gap using AI/ML and interactive visualization to generate explainable and actionable consumer insights.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6E44E-6BF1-4923-AAB5-7A67C7D9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55981"/>
            <a:ext cx="217932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2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2275-6211-E1CB-E0D6-DDFD81DB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BD26-1B3E-548A-7C38-3A70A88E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CE94-0C96-B1C8-49C9-AC7C0A96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Objectives</a:t>
            </a:r>
            <a:endParaRPr lang="en-IN" dirty="0"/>
          </a:p>
          <a:p>
            <a:r>
              <a:rPr lang="en-IN" dirty="0"/>
              <a:t>To develop an integrated consumer analytics framework that combines customer segmentation, purchase prediction, churn analysis, customer lifetime value estimation, and product recommendation within a unified pipeline. </a:t>
            </a:r>
          </a:p>
          <a:p>
            <a:r>
              <a:rPr lang="en-IN" dirty="0"/>
              <a:t> </a:t>
            </a:r>
            <a:r>
              <a:rPr lang="en-IN" b="1" dirty="0"/>
              <a:t>To segment</a:t>
            </a:r>
            <a:r>
              <a:rPr lang="en-IN" dirty="0"/>
              <a:t> customers using RFM analysis and clustering techniques. </a:t>
            </a:r>
          </a:p>
          <a:p>
            <a:r>
              <a:rPr lang="en-IN" dirty="0"/>
              <a:t>To incorporate Explainable AI techniques such as SHAP and LIME to interpret model predictions and identify the key factors influencing consumer-related decisions.  </a:t>
            </a:r>
            <a:r>
              <a:rPr lang="en-IN" b="1" dirty="0"/>
              <a:t>To explain</a:t>
            </a:r>
            <a:r>
              <a:rPr lang="en-IN" dirty="0"/>
              <a:t> model predictions using Explainable AI techniques such as SHAP and LIME. </a:t>
            </a:r>
          </a:p>
          <a:p>
            <a:r>
              <a:rPr lang="en-IN" b="1" dirty="0"/>
              <a:t>To integrate multiple clustering techniques and comparing them with the unified </a:t>
            </a:r>
            <a:r>
              <a:rPr lang="en-IN" b="1" dirty="0" err="1"/>
              <a:t>dateset</a:t>
            </a:r>
            <a:r>
              <a:rPr lang="en-IN" b="1" dirty="0"/>
              <a:t>.</a:t>
            </a:r>
          </a:p>
          <a:p>
            <a:r>
              <a:rPr lang="en-IN" dirty="0"/>
              <a:t>To develop an interactive analytics dashboard that enables users to explore customer segments, product relationships, purchasing trends, predictions, and the factors influencing model outcomes.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2687A-3734-469D-8F0F-BB1E47848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4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F232-7B2F-1A8B-642C-4756219B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37F2-CF90-8E5A-61A8-2D0EE750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F58BC-03D8-E024-A95A-00A6837B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78555-C7E5-76AA-E8E0-E8BA7132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Papers 1 to 3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3D0278-E4F4-DBCB-2724-9AE26280D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750299"/>
              </p:ext>
            </p:extLst>
          </p:nvPr>
        </p:nvGraphicFramePr>
        <p:xfrm>
          <a:off x="838200" y="2517934"/>
          <a:ext cx="10515600" cy="364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639130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4008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6316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7252185"/>
                    </a:ext>
                  </a:extLst>
                </a:gridCol>
              </a:tblGrid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848867"/>
                  </a:ext>
                </a:extLst>
              </a:tr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Algorithmic Customer Segmentation (Salminen et al., 2023)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Journal of Marketing Analytics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Reviews 172 studies and identifies commonly used algorithms such as K-Means for customer segmentation.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Mainly focuses on segmentation rather than integrated consumer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38805"/>
                  </a:ext>
                </a:extLst>
              </a:tr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Customer Segmentation for E-Commerce (Gomes &amp; Meisen, 2023)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Information Systems and e-Business Management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Reviews RFM, K-Means and other methods for personalized customer targeting.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integration of behavioral representation, prediction and explainability.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829517"/>
                  </a:ext>
                </a:extLst>
              </a:tr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Customer Profiling, Segmentation and Sales Prediction (Kasem et al., 2024)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Neural Computing and Applications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Combines RFM, K-Means and AI techniques for customer profiling, segmentation and sales prediction.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Focuses mainly on segmentation and sales prediction rather than a broader consumer analytics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320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147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FD0A-ECC3-FD88-543A-9589A99B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8604-728F-DFFB-D489-FB179F40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40C2C-49DA-06DA-7556-75CDE0F6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B4E95-7C79-993A-7993-4244E453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Papers 4 to 6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CF3D84-117E-9DF4-DDD9-5266D77F5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070879"/>
              </p:ext>
            </p:extLst>
          </p:nvPr>
        </p:nvGraphicFramePr>
        <p:xfrm>
          <a:off x="838200" y="2393018"/>
          <a:ext cx="105156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361086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676425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23666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3733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Key Contribution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2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Customer Lifetime Value Prediction (Yan &amp; Resnick, 2024)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Quantitative Marketing and Economics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Develops a scalable ML-based system for predicting Customer Lifetime Value across retail brands.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Primarily focused on CLV prediction rather than integrated consumer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991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Online Purchase Behaviour and Customer Lifetime Value (</a:t>
                      </a:r>
                      <a:r>
                        <a:rPr lang="en-IN" sz="1400" b="1" dirty="0" err="1"/>
                        <a:t>Kvíčala</a:t>
                      </a:r>
                      <a:r>
                        <a:rPr lang="en-IN" sz="1400" b="1" dirty="0"/>
                        <a:t> et al., 2026)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Springer – Journal of Marketing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Examines how online purchasing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and customer characteristics influence CLV.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integration of segmentation, prediction, product associations and interactive visualization.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00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Customer Purchase Prediction from Clickstream Data (Ehsani &amp; Hosseini,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Springer – Operational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Uses clickstream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, feature selection and ML to predict customer purchase probability.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Primarily focuses on purchase prediction rather than integrated consumer analytics.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3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5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F980-9BF9-35C4-A50B-23B9EF17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1DDA-E940-4404-E963-3EEE2438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DF0D7-EB74-2C88-DA7B-2E07CEB8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D812A-CA5E-F0AF-4D74-9AB3A4F1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Papers 7 to 9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F4DFBC-16BC-D6C7-395A-4F899FD78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48052"/>
              </p:ext>
            </p:extLst>
          </p:nvPr>
        </p:nvGraphicFramePr>
        <p:xfrm>
          <a:off x="838200" y="2393018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883669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1180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0125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1072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Time-Varying RFM for Customer Churn Prediction (Mena et al., 2024)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Annals of Operations Research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Combines time-varying RFM measures with deep neural networks for customer churn prediction.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Mainly churn-focused and does not cover broader consumer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39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Customer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Prediction in E-Commerce (Liu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Applied and Computational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Compares machine-learning and deep-learning models such as RNN/LSTM for predicting customer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integration of customer segmentation and actionable visualization.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3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Topological Data Analysis and ML for Customer Churn (</a:t>
                      </a:r>
                      <a:r>
                        <a:rPr lang="en-IN" sz="1400" dirty="0" err="1"/>
                        <a:t>Sagming</a:t>
                      </a:r>
                      <a:r>
                        <a:rPr lang="en-IN" sz="1400" dirty="0"/>
                        <a:t>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Springer – Journal of Big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Combines Topological Data Analysis with machine learning to improve customer churn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Specialized mainly toward churn prediction rather than general consumer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34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89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067D-5315-6832-B0C6-A0481406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CE8B-A4C5-087C-F0DD-A9913847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84B5B-8F93-CC92-0BA1-3C96D6D30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4CC08-A707-78F8-16BB-C74D2373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 10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59112A-0A52-6975-AF1F-60AA6D24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469917"/>
              </p:ext>
            </p:extLst>
          </p:nvPr>
        </p:nvGraphicFramePr>
        <p:xfrm>
          <a:off x="838200" y="2393018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883669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1180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0125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1072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Customer Retention in E-Commerce Using ML (Jahan &amp; Sanam, 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Springer – Electronic Commerce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Integrates churn prediction, customer segmentation and recommendation for e-commerce customer retention.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Limited integration of explainable AI, multi-dataset analysis and interactive visualization.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39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3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34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53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84FD-D4D6-760F-75E1-BCE59F5E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2904-820D-41F9-7DA2-DBA30416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A0C9-6D44-496A-83A0-EE71891D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600" b="1" dirty="0">
                <a:highlight>
                  <a:srgbClr val="C0C0C0"/>
                </a:highlight>
              </a:rPr>
              <a:t>Research Gap Identification</a:t>
            </a:r>
            <a:endParaRPr lang="en-IN" sz="3600" dirty="0">
              <a:highlight>
                <a:srgbClr val="C0C0C0"/>
              </a:highlight>
            </a:endParaRPr>
          </a:p>
          <a:p>
            <a:r>
              <a:rPr lang="en-IN" b="1" dirty="0"/>
              <a:t>Gap 1 — Fragmented Analytics</a:t>
            </a:r>
            <a:endParaRPr lang="en-IN" dirty="0"/>
          </a:p>
          <a:p>
            <a:r>
              <a:rPr lang="en-IN" dirty="0"/>
              <a:t>Most existing studies concentrate on one or a few tasks:</a:t>
            </a:r>
          </a:p>
          <a:p>
            <a:r>
              <a:rPr lang="en-IN" b="1" dirty="0"/>
              <a:t>Segmentation OR purchase prediction OR churn OR CLV OR recommendation.</a:t>
            </a:r>
            <a:endParaRPr lang="en-IN" dirty="0"/>
          </a:p>
          <a:p>
            <a:r>
              <a:rPr lang="en-IN" dirty="0"/>
              <a:t>There is comparatively less emphasis on a unified consumer analytics pipeline combining these tasks. The recent literature itself points toward separate methodological approaches for segmentation, targeting, prediction, and CLV. </a:t>
            </a:r>
          </a:p>
          <a:p>
            <a:r>
              <a:rPr lang="en-IN" b="1" dirty="0"/>
              <a:t>Gap 2 — Limited Multi-Dataset Integration</a:t>
            </a:r>
            <a:endParaRPr lang="en-IN" dirty="0"/>
          </a:p>
          <a:p>
            <a:r>
              <a:rPr lang="en-IN" dirty="0"/>
              <a:t>Many studies evaluate their methods on a single dataset or a particular business context.</a:t>
            </a:r>
          </a:p>
          <a:p>
            <a:r>
              <a:rPr lang="en-IN" b="1" dirty="0"/>
              <a:t>Research opportunity:</a:t>
            </a:r>
            <a:r>
              <a:rPr lang="en-IN" dirty="0"/>
              <a:t> combine complementary benchmark datasets representing different dimensions of consumer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b="1" dirty="0"/>
              <a:t>Gap 3 — Limited Explainability</a:t>
            </a:r>
            <a:endParaRPr lang="en-IN" dirty="0"/>
          </a:p>
          <a:p>
            <a:r>
              <a:rPr lang="en-IN" dirty="0"/>
              <a:t>High-performing ML/DL models can be difficult for business users to interpret.</a:t>
            </a:r>
          </a:p>
          <a:p>
            <a:r>
              <a:rPr lang="en-IN" b="1" dirty="0"/>
              <a:t>Research opportunity:</a:t>
            </a:r>
            <a:r>
              <a:rPr lang="en-IN" dirty="0"/>
              <a:t> incorporate SHAP/LIME or feature-importance methods to explain predictions.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01C23-89FA-0F47-A8EF-2369B3BE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8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BA5A-BC94-6AA1-7524-623EE8CB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F18B7-D34E-6A22-38E3-FEF5CEEC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D860F-83B7-8FF3-6AD4-62A5FFF66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b="1" dirty="0"/>
              <a:t>Gap 4 — Limited </a:t>
            </a:r>
            <a:r>
              <a:rPr lang="en-IN" sz="1400" b="1" dirty="0" err="1"/>
              <a:t>Behavioral</a:t>
            </a:r>
            <a:r>
              <a:rPr lang="en-IN" sz="1400" b="1" dirty="0"/>
              <a:t> + Transactional Integration</a:t>
            </a:r>
            <a:endParaRPr lang="en-IN" sz="1400" dirty="0"/>
          </a:p>
          <a:p>
            <a:r>
              <a:rPr lang="en-IN" sz="1400" dirty="0"/>
              <a:t>Some studies focus on transaction data, while others focus on clickstream or customer attributes.</a:t>
            </a:r>
          </a:p>
          <a:p>
            <a:r>
              <a:rPr lang="en-IN" sz="1400" b="1" dirty="0"/>
              <a:t>Research opportunity:</a:t>
            </a:r>
            <a:endParaRPr lang="en-IN" sz="1400" dirty="0"/>
          </a:p>
          <a:p>
            <a:r>
              <a:rPr lang="en-IN" sz="1400" dirty="0"/>
              <a:t>Combine:</a:t>
            </a:r>
          </a:p>
          <a:p>
            <a:r>
              <a:rPr lang="en-IN" sz="1400" b="1" dirty="0"/>
              <a:t>Demographics + Transactions + Product Information + </a:t>
            </a:r>
            <a:r>
              <a:rPr lang="en-IN" sz="1400" b="1" dirty="0" err="1"/>
              <a:t>Behavioral</a:t>
            </a:r>
            <a:r>
              <a:rPr lang="en-IN" sz="1400" b="1" dirty="0"/>
              <a:t> Data</a:t>
            </a:r>
            <a:endParaRPr lang="en-IN" sz="1400" dirty="0"/>
          </a:p>
          <a:p>
            <a:r>
              <a:rPr lang="en-IN" sz="1400" dirty="0"/>
              <a:t>to obtain a richer consumer profile.</a:t>
            </a:r>
          </a:p>
          <a:p>
            <a:r>
              <a:rPr lang="en-IN" sz="1400" b="1" dirty="0"/>
              <a:t>Gap 5 — Limited Interactive Decision Support</a:t>
            </a:r>
            <a:endParaRPr lang="en-IN" sz="1400" dirty="0"/>
          </a:p>
          <a:p>
            <a:r>
              <a:rPr lang="en-IN" sz="1400" dirty="0"/>
              <a:t>Research papers often report model performance and statistical results, but the final insights are not always presented through an interactive analytics interface.</a:t>
            </a:r>
          </a:p>
          <a:p>
            <a:r>
              <a:rPr lang="en-IN" sz="1400" b="1" dirty="0"/>
              <a:t>Research opportunity:</a:t>
            </a:r>
            <a:r>
              <a:rPr lang="en-IN" sz="1400" dirty="0"/>
              <a:t> develop a dashboard where users can explore customer segments, products, trends, predictions, and important influencing factors.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9FBED-B555-62D5-8C8A-82067C6D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3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C6C6-13A4-7DBD-F00E-7E72F021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7B26-5567-AFDD-B9FC-61D46C26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D76DA-B92F-CEAF-4ABA-F072A3429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Research opportunity:</a:t>
            </a:r>
            <a:r>
              <a:rPr lang="en-IN" sz="1800" dirty="0"/>
              <a:t> evaluate consumer analytics techniques across multiple benchmark datasets to determine whether insights are consistent.</a:t>
            </a:r>
          </a:p>
          <a:p>
            <a:r>
              <a:rPr lang="en-IN" sz="1800" b="1" dirty="0"/>
              <a:t>Innovation</a:t>
            </a:r>
            <a:endParaRPr lang="en-IN" sz="1800" dirty="0"/>
          </a:p>
          <a:p>
            <a:r>
              <a:rPr lang="en-IN" sz="1800" b="1" dirty="0"/>
              <a:t>1. Multi-Dataset Consumer Analytics</a:t>
            </a:r>
            <a:endParaRPr lang="en-IN" sz="1800" dirty="0"/>
          </a:p>
          <a:p>
            <a:r>
              <a:rPr lang="en-IN" sz="1800" dirty="0"/>
              <a:t>Integrating multiple benchmark datasets to capture different dimensions of consumer </a:t>
            </a:r>
            <a:r>
              <a:rPr lang="en-IN" sz="1800" dirty="0" err="1"/>
              <a:t>behavior</a:t>
            </a:r>
            <a:r>
              <a:rPr lang="en-IN" sz="1800" dirty="0"/>
              <a:t>.</a:t>
            </a:r>
          </a:p>
          <a:p>
            <a:r>
              <a:rPr lang="en-IN" sz="1800" b="1" dirty="0"/>
              <a:t>2. Unified Analytics Pipeline</a:t>
            </a:r>
            <a:endParaRPr lang="en-IN" sz="1800" dirty="0"/>
          </a:p>
          <a:p>
            <a:r>
              <a:rPr lang="en-IN" sz="1800" dirty="0"/>
              <a:t>Combining:</a:t>
            </a:r>
          </a:p>
          <a:p>
            <a:r>
              <a:rPr lang="en-IN" sz="1800" b="1" dirty="0"/>
              <a:t>EDA → RFM → Segmentation → Market Basket Analysis → Prediction → Explainability → Visualization</a:t>
            </a:r>
            <a:endParaRPr lang="en-IN" sz="1800" dirty="0"/>
          </a:p>
          <a:p>
            <a:r>
              <a:rPr lang="en-IN" sz="1800" b="1" dirty="0"/>
              <a:t>3. Explainable Consumer Intelligence</a:t>
            </a:r>
            <a:endParaRPr lang="en-IN" sz="1800" dirty="0"/>
          </a:p>
          <a:p>
            <a:r>
              <a:rPr lang="en-IN" sz="1800" dirty="0"/>
              <a:t>Using </a:t>
            </a:r>
            <a:r>
              <a:rPr lang="en-IN" sz="1800" b="1" dirty="0"/>
              <a:t>SHAP/LIME/feature importance</a:t>
            </a:r>
            <a:r>
              <a:rPr lang="en-IN" sz="1800" dirty="0"/>
              <a:t> to explain why a customer is classified as high-value, likely to purchase, or likely to churn.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EAC69-4C6B-9C5D-A6C7-E1D262291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368A-CA91-18E8-5C29-DD7A90DB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8E7E-EA37-AC4C-5D1B-17CE11BF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AA3D6-E131-8962-C9B2-4ED1E2093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4. Action-Oriented Insights</a:t>
            </a:r>
            <a:endParaRPr lang="en-IN" dirty="0"/>
          </a:p>
          <a:p>
            <a:r>
              <a:rPr lang="en-IN" dirty="0"/>
              <a:t>Instead of simply predicting a class, the system can translate results into business insights such as:</a:t>
            </a:r>
          </a:p>
          <a:p>
            <a:r>
              <a:rPr lang="en-IN" dirty="0"/>
              <a:t>"High-frequency customers with high monetary value should be targeted with loyalty campaigns."</a:t>
            </a:r>
          </a:p>
          <a:p>
            <a:r>
              <a:rPr lang="en-IN" b="1" dirty="0"/>
              <a:t>5. Interactive Visualization</a:t>
            </a:r>
            <a:endParaRPr lang="en-IN" dirty="0"/>
          </a:p>
          <a:p>
            <a:r>
              <a:rPr lang="en-IN" dirty="0"/>
              <a:t>A dashboard allowing users to explore:</a:t>
            </a:r>
          </a:p>
          <a:p>
            <a:pPr lvl="0"/>
            <a:r>
              <a:rPr lang="en-IN" dirty="0"/>
              <a:t>Customer segments </a:t>
            </a:r>
          </a:p>
          <a:p>
            <a:pPr lvl="0"/>
            <a:r>
              <a:rPr lang="en-IN" dirty="0"/>
              <a:t>Spending patterns </a:t>
            </a:r>
          </a:p>
          <a:p>
            <a:pPr lvl="0"/>
            <a:r>
              <a:rPr lang="en-IN" dirty="0"/>
              <a:t>Product associations </a:t>
            </a:r>
          </a:p>
          <a:p>
            <a:pPr lvl="0"/>
            <a:r>
              <a:rPr lang="en-IN" dirty="0"/>
              <a:t>Purchase trends </a:t>
            </a:r>
          </a:p>
          <a:p>
            <a:pPr lvl="0"/>
            <a:r>
              <a:rPr lang="en-IN" dirty="0"/>
              <a:t>Customer value </a:t>
            </a:r>
          </a:p>
          <a:p>
            <a:pPr lvl="0"/>
            <a:r>
              <a:rPr lang="en-IN" dirty="0"/>
              <a:t>Churn/purchase predictions </a:t>
            </a:r>
          </a:p>
          <a:p>
            <a:pPr lvl="0"/>
            <a:r>
              <a:rPr lang="en-IN" dirty="0"/>
              <a:t>Model explanations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2C1F0-B570-B816-AEE5-4B5D04EC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2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4002-9551-9491-A181-95298CC8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4098-BCD1-A05A-674C-0C791BB4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87001-4411-B808-B9C7-88033534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900" b="1" dirty="0"/>
              <a:t>Technical Feasibility</a:t>
            </a:r>
            <a:endParaRPr lang="en-IN" sz="1900" dirty="0"/>
          </a:p>
          <a:p>
            <a:r>
              <a:rPr lang="en-IN" sz="1900" dirty="0"/>
              <a:t>The project can be implemented using:</a:t>
            </a:r>
          </a:p>
          <a:p>
            <a:pPr lvl="0"/>
            <a:r>
              <a:rPr lang="en-IN" sz="1900" b="1" dirty="0"/>
              <a:t>Python</a:t>
            </a:r>
            <a:r>
              <a:rPr lang="en-IN" sz="1900" dirty="0"/>
              <a:t> </a:t>
            </a:r>
          </a:p>
          <a:p>
            <a:pPr lvl="0"/>
            <a:r>
              <a:rPr lang="en-IN" sz="1900" dirty="0"/>
              <a:t>Pandas </a:t>
            </a:r>
          </a:p>
          <a:p>
            <a:pPr lvl="0"/>
            <a:r>
              <a:rPr lang="en-IN" sz="1900" dirty="0"/>
              <a:t>NumPy </a:t>
            </a:r>
          </a:p>
          <a:p>
            <a:pPr lvl="0"/>
            <a:r>
              <a:rPr lang="en-IN" sz="1900" dirty="0"/>
              <a:t>Scikit-learn </a:t>
            </a:r>
          </a:p>
          <a:p>
            <a:pPr lvl="0"/>
            <a:r>
              <a:rPr lang="en-IN" sz="1900" dirty="0"/>
              <a:t>Matplotlib / </a:t>
            </a:r>
            <a:r>
              <a:rPr lang="en-IN" sz="1900" dirty="0" err="1"/>
              <a:t>Plotly</a:t>
            </a:r>
            <a:r>
              <a:rPr lang="en-IN" sz="1900" dirty="0"/>
              <a:t> </a:t>
            </a:r>
          </a:p>
          <a:p>
            <a:pPr lvl="0"/>
            <a:r>
              <a:rPr lang="en-IN" sz="1900" dirty="0"/>
              <a:t>SHAP / LIME </a:t>
            </a:r>
          </a:p>
          <a:p>
            <a:pPr lvl="0"/>
            <a:r>
              <a:rPr lang="en-IN" sz="1900" dirty="0" err="1"/>
              <a:t>Streamlit</a:t>
            </a:r>
            <a:r>
              <a:rPr lang="en-IN" sz="1900" dirty="0"/>
              <a:t> or Power BI </a:t>
            </a:r>
          </a:p>
          <a:p>
            <a:pPr lvl="0"/>
            <a:r>
              <a:rPr lang="en-IN" sz="1900" dirty="0"/>
              <a:t>Jupyter Notebook </a:t>
            </a:r>
          </a:p>
          <a:p>
            <a:r>
              <a:rPr lang="en-IN" sz="1900" b="1" dirty="0"/>
              <a:t>Dataset Feasibility</a:t>
            </a:r>
            <a:endParaRPr lang="en-IN" sz="1900" dirty="0"/>
          </a:p>
          <a:p>
            <a:r>
              <a:rPr lang="en-IN" sz="1900" dirty="0"/>
              <a:t>The proposed datasets are publicly available benchmark datasets, including </a:t>
            </a:r>
            <a:r>
              <a:rPr lang="en-IN" sz="1900" b="1" dirty="0"/>
              <a:t>UCI Online Retail II, Instacart, </a:t>
            </a:r>
            <a:r>
              <a:rPr lang="en-IN" sz="1900" b="1" dirty="0" err="1"/>
              <a:t>Olist</a:t>
            </a:r>
            <a:r>
              <a:rPr lang="en-IN" sz="1900" b="1" dirty="0"/>
              <a:t>, and Customer Personality Analysis</a:t>
            </a:r>
            <a:r>
              <a:rPr lang="en-IN" sz="1900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91F0E-497C-4C96-9F11-6AF85136B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83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2824-3522-4009-E0CD-06E56915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325C-D626-031F-F0B1-99C58E64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3611BE-40F1-9CD9-C549-1AFC7F6CE5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97080"/>
          <a:ext cx="10515600" cy="24084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420099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79923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Work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7745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Literature survey and research gap identification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446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Dataset collection and understanding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221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Data preprocessing and integration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9074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Exploratory Data Analysis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615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RFM analysis and customer segmentation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752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Market Basket Analysis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1163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ML-based prediction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175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Explainable AI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770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Dashboard and visualization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241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Evaluation, testing and documentation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46621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8478CC3-615C-3B76-AAC8-320EA935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C94892-78BD-159B-5A15-C29DD32FF4B8}"/>
              </a:ext>
            </a:extLst>
          </p:cNvPr>
          <p:cNvSpPr txBox="1"/>
          <p:nvPr/>
        </p:nvSpPr>
        <p:spPr>
          <a:xfrm>
            <a:off x="752094" y="1980766"/>
            <a:ext cx="60944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Plan</a:t>
            </a:r>
            <a:r>
              <a:rPr lang="en-IN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73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064A-C695-E6DA-77A6-0522434A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C726-D7CF-C384-23D5-512C8369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BF955-8F66-F7A3-8DD6-3CADDF0A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9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8B7A4-2057-6553-E162-CA42ED7A8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1218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ConsumerIQ: An Explainable AI Framework for Intelligent Customer Analytics </vt:lpstr>
      <vt:lpstr>Problem Statement </vt:lpstr>
      <vt:lpstr>PowerPoint Presentation</vt:lpstr>
      <vt:lpstr>,,,   </vt:lpstr>
      <vt:lpstr>,,,   </vt:lpstr>
      <vt:lpstr>,,,   </vt:lpstr>
      <vt:lpstr>,,,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UMESH 2420030027</dc:creator>
  <cp:lastModifiedBy>P UMESH 2420030027</cp:lastModifiedBy>
  <cp:revision>9</cp:revision>
  <dcterms:created xsi:type="dcterms:W3CDTF">2026-08-13T08:36:36Z</dcterms:created>
  <dcterms:modified xsi:type="dcterms:W3CDTF">2026-09-21T06:02:37Z</dcterms:modified>
</cp:coreProperties>
</file>