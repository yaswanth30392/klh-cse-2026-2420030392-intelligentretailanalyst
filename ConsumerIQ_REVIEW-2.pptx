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6" r:id="rId10"/>
    <p:sldId id="267" r:id="rId11"/>
    <p:sldId id="268" r:id="rId12"/>
    <p:sldId id="263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0" y="2011680"/>
            <a:ext cx="109728" cy="292608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601200" cy="139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rPr dirty="0" err="1"/>
              <a:t>ConsumerIQ</a:t>
            </a:r>
            <a:r>
              <a:rPr dirty="0"/>
              <a:t>:</a:t>
            </a:r>
            <a:r>
              <a:rPr lang="en-IN" dirty="0"/>
              <a:t> Ai Powered Consumer Purchase Behaviour Analytics</a:t>
            </a:r>
            <a:endParaRPr dirty="0"/>
          </a:p>
          <a:p>
            <a:pPr>
              <a:spcBef>
                <a:spcPts val="800"/>
              </a:spcBef>
              <a:defRPr sz="1800">
                <a:solidFill>
                  <a:srgbClr val="3B82F6"/>
                </a:solidFill>
              </a:defRPr>
            </a:pPr>
            <a:r>
              <a:rPr dirty="0"/>
              <a:t>Understanding Customer Groups, Predicting Churn &amp; Explaining AI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CONSUMER IQ — SIMPLE &amp; CLEAR PRESENTATION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1. Methodology: How We Processed &amp; Grouped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60120" y="1463039"/>
                <a:ext cx="4663440" cy="304698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IN" b="1" dirty="0">
                    <a:solidFill>
                      <a:srgbClr val="00B050"/>
                    </a:solidFill>
                  </a:rPr>
                  <a:t>ETL Pipeline </a:t>
                </a:r>
              </a:p>
              <a:p>
                <a:r>
                  <a:rPr lang="en-IN" b="1" dirty="0">
                    <a:solidFill>
                      <a:schemeClr val="bg1"/>
                    </a:solidFill>
                  </a:rPr>
                  <a:t>ML Model Used:</a:t>
                </a:r>
                <a:r>
                  <a:rPr lang="en-IN" dirty="0">
                    <a:solidFill>
                      <a:schemeClr val="bg1"/>
                    </a:solidFill>
                  </a:rPr>
                  <a:t> None (Pure Data Engineering).</a:t>
                </a:r>
              </a:p>
              <a:p>
                <a:pPr lvl="0"/>
                <a:r>
                  <a:rPr lang="en-IN" dirty="0">
                    <a:solidFill>
                      <a:schemeClr val="bg1"/>
                    </a:solidFill>
                  </a:rPr>
                  <a:t>Ingests heterogeneous raw datasets (UCI, Instacart, </a:t>
                </a:r>
                <a:r>
                  <a:rPr lang="en-IN" dirty="0" err="1">
                    <a:solidFill>
                      <a:schemeClr val="bg1"/>
                    </a:solidFill>
                  </a:rPr>
                  <a:t>Olist</a:t>
                </a:r>
                <a:r>
                  <a:rPr lang="en-IN" dirty="0">
                    <a:solidFill>
                      <a:schemeClr val="bg1"/>
                    </a:solidFill>
                  </a:rPr>
                  <a:t>) and maps them into a standardized 9-column target schema. It cleans missing/null strings, eliminates numerical outliers (</a:t>
                </a:r>
                <a14:m>
                  <m:oMath xmlns:m="http://schemas.openxmlformats.org/officeDocument/2006/math">
                    <m:r>
                      <a:rPr lang="en-IN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IN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𝑄𝑡𝑦</m:t>
                    </m:r>
                    <m:r>
                      <a:rPr lang="en-IN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≤10,000</m:t>
                    </m:r>
                  </m:oMath>
                </a14:m>
                <a:r>
                  <a:rPr lang="en-IN" dirty="0">
                    <a:solidFill>
                      <a:schemeClr val="bg1"/>
                    </a:solidFill>
                  </a:rPr>
                  <a:t>), imputes category-level benchmark prices for grocery items, and formats timestamps.</a:t>
                </a:r>
              </a:p>
              <a:p>
                <a:pPr lvl="1"/>
                <a:r>
                  <a:rPr lang="en-IN" b="1" dirty="0">
                    <a:solidFill>
                      <a:schemeClr val="bg1"/>
                    </a:solidFill>
                  </a:rPr>
                  <a:t>Output:</a:t>
                </a:r>
                <a:r>
                  <a:rPr lang="en-IN" dirty="0">
                    <a:solidFill>
                      <a:schemeClr val="bg1"/>
                    </a:solidFill>
                  </a:rPr>
                  <a:t> unified_consumeriq_real.csv (</a:t>
                </a:r>
                <a14:m>
                  <m:oMath xmlns:m="http://schemas.openxmlformats.org/officeDocument/2006/math">
                    <m:r>
                      <a:rPr lang="en-IN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1.71</m:t>
                    </m:r>
                    <m:r>
                      <m:rPr>
                        <m:nor/>
                      </m:rPr>
                      <a:rPr lang="en-IN" i="0">
                        <a:solidFill>
                          <a:schemeClr val="bg1"/>
                        </a:solidFill>
                      </a:rPr>
                      <m:t> million</m:t>
                    </m:r>
                  </m:oMath>
                </a14:m>
                <a:r>
                  <a:rPr lang="en-IN" dirty="0">
                    <a:solidFill>
                      <a:schemeClr val="bg1"/>
                    </a:solidFill>
                  </a:rPr>
                  <a:t> clean rows).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1463039"/>
                <a:ext cx="4663440" cy="3046988"/>
              </a:xfrm>
              <a:prstGeom prst="rect">
                <a:avLst/>
              </a:prstGeom>
              <a:blipFill>
                <a:blip r:embed="rId2"/>
                <a:stretch>
                  <a:fillRect l="-3137" t="-2600" r="-2876" b="-36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6217920" y="128016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446520" y="1463039"/>
                <a:ext cx="4663440" cy="3345403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IN" b="1" dirty="0">
                    <a:solidFill>
                      <a:schemeClr val="bg1"/>
                    </a:solidFill>
                  </a:rPr>
                  <a:t> </a:t>
                </a:r>
                <a:r>
                  <a:rPr lang="en-IN" b="1" dirty="0">
                    <a:solidFill>
                      <a:srgbClr val="00B050"/>
                    </a:solidFill>
                  </a:rPr>
                  <a:t>Customer Segmentation </a:t>
                </a:r>
              </a:p>
              <a:p>
                <a:r>
                  <a:rPr lang="en-IN" b="1" dirty="0">
                    <a:solidFill>
                      <a:schemeClr val="bg1"/>
                    </a:solidFill>
                  </a:rPr>
                  <a:t>ML Model Used:</a:t>
                </a:r>
                <a:r>
                  <a:rPr lang="en-IN" dirty="0">
                    <a:solidFill>
                      <a:schemeClr val="bg1"/>
                    </a:solidFill>
                  </a:rPr>
                  <a:t> </a:t>
                </a:r>
                <a:r>
                  <a:rPr lang="en-IN" b="1" dirty="0">
                    <a:solidFill>
                      <a:schemeClr val="bg1"/>
                    </a:solidFill>
                  </a:rPr>
                  <a:t>K-Means Clustering</a:t>
                </a:r>
                <a:r>
                  <a:rPr lang="en-IN" dirty="0">
                    <a:solidFill>
                      <a:schemeClr val="bg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IN" dirty="0">
                    <a:solidFill>
                      <a:schemeClr val="bg1"/>
                    </a:solidFill>
                  </a:rPr>
                  <a:t>).</a:t>
                </a:r>
              </a:p>
              <a:p>
                <a:pPr lvl="1"/>
                <a:r>
                  <a:rPr lang="en-IN" dirty="0">
                    <a:solidFill>
                      <a:schemeClr val="bg1"/>
                    </a:solidFill>
                  </a:rPr>
                  <a:t>Aggregates transaction rows per customer to compute </a:t>
                </a:r>
                <a:r>
                  <a:rPr lang="en-IN" b="1" dirty="0">
                    <a:solidFill>
                      <a:schemeClr val="bg1"/>
                    </a:solidFill>
                  </a:rPr>
                  <a:t>RFM</a:t>
                </a:r>
                <a:r>
                  <a:rPr lang="en-IN" dirty="0">
                    <a:solidFill>
                      <a:schemeClr val="bg1"/>
                    </a:solidFill>
                  </a:rPr>
                  <a:t> metrics: Recency (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IN" dirty="0">
                    <a:solidFill>
                      <a:schemeClr val="bg1"/>
                    </a:solidFill>
                  </a:rPr>
                  <a:t>), Frequency (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IN" dirty="0">
                    <a:solidFill>
                      <a:schemeClr val="bg1"/>
                    </a:solidFill>
                  </a:rPr>
                  <a:t>), and Monetary spend (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IN" dirty="0">
                    <a:solidFill>
                      <a:schemeClr val="bg1"/>
                    </a:solidFill>
                  </a:rPr>
                  <a:t>).</a:t>
                </a:r>
              </a:p>
              <a:p>
                <a:pPr lvl="1"/>
                <a:r>
                  <a:rPr lang="en-IN" dirty="0">
                    <a:solidFill>
                      <a:schemeClr val="bg1"/>
                    </a:solidFill>
                  </a:rPr>
                  <a:t>Applies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bg1"/>
                    </a:solidFill>
                  </a:rPr>
                  <a:t>mathematical transformation to eliminate severe right-skewness, followed by </a:t>
                </a:r>
                <a:r>
                  <a:rPr lang="en-IN" dirty="0" err="1">
                    <a:solidFill>
                      <a:schemeClr val="bg1"/>
                    </a:solidFill>
                  </a:rPr>
                  <a:t>StandardScaler</a:t>
                </a:r>
                <a:r>
                  <a:rPr lang="en-IN" dirty="0">
                    <a:solidFill>
                      <a:schemeClr val="bg1"/>
                    </a:solidFill>
                  </a:rPr>
                  <a:t> normalization.</a:t>
                </a:r>
              </a:p>
              <a:p>
                <a:pPr lvl="1"/>
                <a:r>
                  <a:rPr lang="en-IN" dirty="0">
                    <a:solidFill>
                      <a:schemeClr val="bg1"/>
                    </a:solidFill>
                  </a:rPr>
                  <a:t>Executes K-Means clustering (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IN" dirty="0">
                    <a:solidFill>
                      <a:schemeClr val="bg1"/>
                    </a:solidFill>
                  </a:rPr>
                  <a:t>) to group customers into 4 distinct </a:t>
                </a:r>
                <a:r>
                  <a:rPr lang="en-IN" dirty="0" err="1">
                    <a:solidFill>
                      <a:schemeClr val="bg1"/>
                    </a:solidFill>
                  </a:rPr>
                  <a:t>behavioral</a:t>
                </a:r>
                <a:r>
                  <a:rPr lang="en-IN" dirty="0">
                    <a:solidFill>
                      <a:schemeClr val="bg1"/>
                    </a:solidFill>
                  </a:rPr>
                  <a:t> segments (</a:t>
                </a:r>
                <a:r>
                  <a:rPr lang="en-IN" i="1" dirty="0">
                    <a:solidFill>
                      <a:schemeClr val="bg1"/>
                    </a:solidFill>
                  </a:rPr>
                  <a:t>Champions</a:t>
                </a:r>
                <a:r>
                  <a:rPr lang="en-IN" dirty="0">
                    <a:solidFill>
                      <a:schemeClr val="bg1"/>
                    </a:solidFill>
                  </a:rPr>
                  <a:t>, </a:t>
                </a:r>
                <a:r>
                  <a:rPr lang="en-IN" i="1" dirty="0">
                    <a:solidFill>
                      <a:schemeClr val="bg1"/>
                    </a:solidFill>
                  </a:rPr>
                  <a:t>Loyal Customers</a:t>
                </a:r>
                <a:r>
                  <a:rPr lang="en-IN" dirty="0">
                    <a:solidFill>
                      <a:schemeClr val="bg1"/>
                    </a:solidFill>
                  </a:rPr>
                  <a:t>, </a:t>
                </a:r>
                <a:r>
                  <a:rPr lang="en-IN" i="1" dirty="0">
                    <a:solidFill>
                      <a:schemeClr val="bg1"/>
                    </a:solidFill>
                  </a:rPr>
                  <a:t>At Risk</a:t>
                </a:r>
                <a:r>
                  <a:rPr lang="en-IN" dirty="0">
                    <a:solidFill>
                      <a:schemeClr val="bg1"/>
                    </a:solidFill>
                  </a:rPr>
                  <a:t>, </a:t>
                </a:r>
                <a:r>
                  <a:rPr lang="en-IN" i="1" dirty="0">
                    <a:solidFill>
                      <a:schemeClr val="bg1"/>
                    </a:solidFill>
                  </a:rPr>
                  <a:t>Hibernating</a:t>
                </a:r>
                <a:r>
                  <a:rPr lang="en-IN" dirty="0">
                    <a:solidFill>
                      <a:schemeClr val="bg1"/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1463039"/>
                <a:ext cx="4663440" cy="3345403"/>
              </a:xfrm>
              <a:prstGeom prst="rect">
                <a:avLst/>
              </a:prstGeom>
              <a:blipFill>
                <a:blip r:embed="rId3"/>
                <a:stretch>
                  <a:fillRect l="-3137" t="-2368" r="-3268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CONSUMER IQ — SIMPLE &amp; CLEAR PRESENTATION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1. Methodology: Churn Prediction &amp; Simple Explainability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60120" y="1463039"/>
                <a:ext cx="4663440" cy="304698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IN" b="1" dirty="0">
                    <a:solidFill>
                      <a:srgbClr val="00B050"/>
                    </a:solidFill>
                  </a:rPr>
                  <a:t>Market Basket Analysis </a:t>
                </a:r>
              </a:p>
              <a:p>
                <a:r>
                  <a:rPr lang="en-IN" b="1" dirty="0">
                    <a:solidFill>
                      <a:schemeClr val="bg1"/>
                    </a:solidFill>
                  </a:rPr>
                  <a:t>ML Model Used:</a:t>
                </a:r>
                <a:r>
                  <a:rPr lang="en-IN" dirty="0">
                    <a:solidFill>
                      <a:schemeClr val="bg1"/>
                    </a:solidFill>
                  </a:rPr>
                  <a:t> </a:t>
                </a:r>
                <a:r>
                  <a:rPr lang="en-IN" b="1" dirty="0" err="1">
                    <a:solidFill>
                      <a:schemeClr val="bg1"/>
                    </a:solidFill>
                  </a:rPr>
                  <a:t>Apriori</a:t>
                </a:r>
                <a:r>
                  <a:rPr lang="en-IN" b="1" dirty="0">
                    <a:solidFill>
                      <a:schemeClr val="bg1"/>
                    </a:solidFill>
                  </a:rPr>
                  <a:t> Algorithm</a:t>
                </a:r>
                <a:r>
                  <a:rPr lang="en-IN" dirty="0">
                    <a:solidFill>
                      <a:schemeClr val="bg1"/>
                    </a:solidFill>
                  </a:rPr>
                  <a:t> &amp; </a:t>
                </a:r>
                <a:r>
                  <a:rPr lang="en-IN" b="1" dirty="0">
                    <a:solidFill>
                      <a:schemeClr val="bg1"/>
                    </a:solidFill>
                  </a:rPr>
                  <a:t>Association Rule Mining</a:t>
                </a:r>
                <a:r>
                  <a:rPr lang="en-IN" dirty="0">
                    <a:solidFill>
                      <a:schemeClr val="bg1"/>
                    </a:solidFill>
                  </a:rPr>
                  <a:t>.</a:t>
                </a:r>
              </a:p>
              <a:p>
                <a:pPr lvl="0"/>
                <a:r>
                  <a:rPr lang="en-IN" dirty="0">
                    <a:solidFill>
                      <a:schemeClr val="bg1"/>
                    </a:solidFill>
                  </a:rPr>
                  <a:t>Filters transactions to the top 50 product categories across </a:t>
                </a:r>
                <a14:m>
                  <m:oMath xmlns:m="http://schemas.openxmlformats.org/officeDocument/2006/math">
                    <m:r>
                      <a:rPr lang="en-IN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50,000</m:t>
                    </m:r>
                  </m:oMath>
                </a14:m>
                <a:r>
                  <a:rPr lang="en-IN" dirty="0">
                    <a:solidFill>
                      <a:schemeClr val="bg1"/>
                    </a:solidFill>
                  </a:rPr>
                  <a:t>recent orders.</a:t>
                </a:r>
              </a:p>
              <a:p>
                <a:pPr lvl="1"/>
                <a:r>
                  <a:rPr lang="en-IN" dirty="0">
                    <a:solidFill>
                      <a:schemeClr val="bg1"/>
                    </a:solidFill>
                  </a:rPr>
                  <a:t>Constructs a </a:t>
                </a:r>
                <a14:m>
                  <m:oMath xmlns:m="http://schemas.openxmlformats.org/officeDocument/2006/math">
                    <m:r>
                      <a:rPr lang="en-IN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50,000×45</m:t>
                    </m:r>
                  </m:oMath>
                </a14:m>
                <a:r>
                  <a:rPr lang="en-IN" dirty="0" err="1">
                    <a:solidFill>
                      <a:schemeClr val="bg1"/>
                    </a:solidFill>
                  </a:rPr>
                  <a:t>boolean</a:t>
                </a:r>
                <a:r>
                  <a:rPr lang="en-IN" dirty="0">
                    <a:solidFill>
                      <a:schemeClr val="bg1"/>
                    </a:solidFill>
                  </a:rPr>
                  <a:t> transaction matrix (one-hot encoded).</a:t>
                </a:r>
              </a:p>
              <a:p>
                <a:pPr lvl="1"/>
                <a:r>
                  <a:rPr lang="en-IN" dirty="0">
                    <a:solidFill>
                      <a:schemeClr val="bg1"/>
                    </a:solidFill>
                  </a:rPr>
                  <a:t>Runs the </a:t>
                </a:r>
                <a:r>
                  <a:rPr lang="en-IN" dirty="0" err="1">
                    <a:solidFill>
                      <a:schemeClr val="bg1"/>
                    </a:solidFill>
                  </a:rPr>
                  <a:t>Apriori</a:t>
                </a:r>
                <a:r>
                  <a:rPr lang="en-IN" dirty="0">
                    <a:solidFill>
                      <a:schemeClr val="bg1"/>
                    </a:solidFill>
                  </a:rPr>
                  <a:t> algorithm to identify frequent </a:t>
                </a:r>
                <a:r>
                  <a:rPr lang="en-IN" dirty="0" err="1">
                    <a:solidFill>
                      <a:schemeClr val="bg1"/>
                    </a:solidFill>
                  </a:rPr>
                  <a:t>itemsets</a:t>
                </a:r>
                <a:r>
                  <a:rPr lang="en-IN" dirty="0">
                    <a:solidFill>
                      <a:schemeClr val="bg1"/>
                    </a:solidFill>
                  </a:rPr>
                  <a:t> based on minimum </a:t>
                </a:r>
                <a:r>
                  <a:rPr lang="en-IN" i="1" dirty="0">
                    <a:solidFill>
                      <a:schemeClr val="bg1"/>
                    </a:solidFill>
                  </a:rPr>
                  <a:t>Support</a:t>
                </a:r>
                <a:r>
                  <a:rPr lang="en-IN" dirty="0">
                    <a:solidFill>
                      <a:schemeClr val="bg1"/>
                    </a:solidFill>
                  </a:rPr>
                  <a:t>, then calculates </a:t>
                </a:r>
                <a:r>
                  <a:rPr lang="en-IN" i="1" dirty="0">
                    <a:solidFill>
                      <a:schemeClr val="bg1"/>
                    </a:solidFill>
                  </a:rPr>
                  <a:t>Confidence</a:t>
                </a:r>
                <a:r>
                  <a:rPr lang="en-IN" dirty="0">
                    <a:solidFill>
                      <a:schemeClr val="bg1"/>
                    </a:solidFill>
                  </a:rPr>
                  <a:t> and </a:t>
                </a:r>
                <a:r>
                  <a:rPr lang="en-IN" i="1" dirty="0">
                    <a:solidFill>
                      <a:schemeClr val="bg1"/>
                    </a:solidFill>
                  </a:rPr>
                  <a:t>Lift</a:t>
                </a:r>
                <a:r>
                  <a:rPr lang="en-IN" dirty="0">
                    <a:solidFill>
                      <a:schemeClr val="bg1"/>
                    </a:solidFill>
                  </a:rPr>
                  <a:t> to discover cross-category buying patterns.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1463039"/>
                <a:ext cx="4663440" cy="3046988"/>
              </a:xfrm>
              <a:prstGeom prst="rect">
                <a:avLst/>
              </a:prstGeom>
              <a:blipFill>
                <a:blip r:embed="rId2"/>
                <a:stretch>
                  <a:fillRect l="-3137" t="-2600" r="-2876" b="-36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6217920" y="128016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446520" y="1463039"/>
                <a:ext cx="4663440" cy="415498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IN" b="1" dirty="0">
                    <a:solidFill>
                      <a:srgbClr val="00B050"/>
                    </a:solidFill>
                  </a:rPr>
                  <a:t>Predictive Churn Engine </a:t>
                </a:r>
              </a:p>
              <a:p>
                <a:r>
                  <a:rPr lang="en-IN" b="1" dirty="0">
                    <a:solidFill>
                      <a:schemeClr val="bg1"/>
                    </a:solidFill>
                  </a:rPr>
                  <a:t>ML Model Used:</a:t>
                </a:r>
                <a:r>
                  <a:rPr lang="en-IN" dirty="0">
                    <a:solidFill>
                      <a:schemeClr val="bg1"/>
                    </a:solidFill>
                  </a:rPr>
                  <a:t> </a:t>
                </a:r>
                <a:r>
                  <a:rPr lang="en-IN" b="1" dirty="0">
                    <a:solidFill>
                      <a:schemeClr val="bg1"/>
                    </a:solidFill>
                  </a:rPr>
                  <a:t>Random Forest Classifier</a:t>
                </a:r>
                <a:r>
                  <a:rPr lang="en-IN" dirty="0">
                    <a:solidFill>
                      <a:schemeClr val="bg1"/>
                    </a:solidFill>
                  </a:rPr>
                  <a:t> (</a:t>
                </a:r>
                <a:r>
                  <a:rPr lang="en-IN" dirty="0" err="1">
                    <a:solidFill>
                      <a:schemeClr val="bg1"/>
                    </a:solidFill>
                  </a:rPr>
                  <a:t>n_estimators</a:t>
                </a:r>
                <a:r>
                  <a:rPr lang="en-IN" dirty="0">
                    <a:solidFill>
                      <a:schemeClr val="bg1"/>
                    </a:solidFill>
                  </a:rPr>
                  <a:t>=100, </a:t>
                </a:r>
                <a:r>
                  <a:rPr lang="en-IN" dirty="0" err="1">
                    <a:solidFill>
                      <a:schemeClr val="bg1"/>
                    </a:solidFill>
                  </a:rPr>
                  <a:t>max_depth</a:t>
                </a:r>
                <a:r>
                  <a:rPr lang="en-IN" dirty="0">
                    <a:solidFill>
                      <a:schemeClr val="bg1"/>
                    </a:solidFill>
                  </a:rPr>
                  <a:t>=6).</a:t>
                </a:r>
              </a:p>
              <a:p>
                <a:pPr lvl="0"/>
                <a:r>
                  <a:rPr lang="en-IN" dirty="0">
                    <a:solidFill>
                      <a:schemeClr val="bg1"/>
                    </a:solidFill>
                  </a:rPr>
                  <a:t>Consumes the customer-level feature table generated by Module 2.</a:t>
                </a:r>
              </a:p>
              <a:p>
                <a:pPr lvl="1"/>
                <a:r>
                  <a:rPr lang="en-IN" dirty="0">
                    <a:solidFill>
                      <a:schemeClr val="bg1"/>
                    </a:solidFill>
                  </a:rPr>
                  <a:t>Defines the binary target label: </a:t>
                </a:r>
                <a:r>
                  <a:rPr lang="en-IN" dirty="0" err="1">
                    <a:solidFill>
                      <a:schemeClr val="bg1"/>
                    </a:solidFill>
                  </a:rPr>
                  <a:t>is_churned</a:t>
                </a:r>
                <a:r>
                  <a:rPr lang="en-IN" dirty="0">
                    <a:solidFill>
                      <a:schemeClr val="bg1"/>
                    </a:solidFill>
                  </a:rPr>
                  <a:t> = 1 if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𝑅𝑒𝑐𝑒𝑛𝑐𝑦</m:t>
                    </m:r>
                    <m:r>
                      <a:rPr lang="en-IN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&gt;180</m:t>
                    </m:r>
                    <m:r>
                      <m:rPr>
                        <m:nor/>
                      </m:rPr>
                      <a:rPr lang="en-IN" i="0">
                        <a:solidFill>
                          <a:schemeClr val="bg1"/>
                        </a:solidFill>
                      </a:rPr>
                      <m:t> days</m:t>
                    </m:r>
                  </m:oMath>
                </a14:m>
                <a:r>
                  <a:rPr lang="en-IN" dirty="0">
                    <a:solidFill>
                      <a:schemeClr val="bg1"/>
                    </a:solidFill>
                  </a:rPr>
                  <a:t>, else </a:t>
                </a:r>
                <a14:m>
                  <m:oMath xmlns:m="http://schemas.openxmlformats.org/officeDocument/2006/math">
                    <m:r>
                      <a:rPr lang="en-IN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dirty="0">
                    <a:solidFill>
                      <a:schemeClr val="bg1"/>
                    </a:solidFill>
                  </a:rPr>
                  <a:t>.</a:t>
                </a:r>
              </a:p>
              <a:p>
                <a:pPr lvl="1"/>
                <a:r>
                  <a:rPr lang="en-IN" b="1" dirty="0">
                    <a:solidFill>
                      <a:schemeClr val="bg1"/>
                    </a:solidFill>
                  </a:rPr>
                  <a:t>Strict Non-Leakage Rule:</a:t>
                </a:r>
                <a:r>
                  <a:rPr lang="en-IN" dirty="0">
                    <a:solidFill>
                      <a:schemeClr val="bg1"/>
                    </a:solidFill>
                  </a:rPr>
                  <a:t> Drops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𝑅𝑒𝑐𝑒𝑛𝑐𝑦</m:t>
                    </m:r>
                  </m:oMath>
                </a14:m>
                <a:r>
                  <a:rPr lang="en-IN" dirty="0">
                    <a:solidFill>
                      <a:schemeClr val="bg1"/>
                    </a:solidFill>
                  </a:rPr>
                  <a:t>from the predictor features, training the Random Forest strictly on transformed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𝐹𝑟𝑒𝑞𝑢𝑒𝑛𝑐𝑦</m:t>
                    </m:r>
                  </m:oMath>
                </a14:m>
                <a:r>
                  <a:rPr lang="en-IN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𝑀𝑜𝑛𝑒𝑡𝑎𝑟𝑦</m:t>
                    </m:r>
                  </m:oMath>
                </a14:m>
                <a:r>
                  <a:rPr lang="en-IN" dirty="0">
                    <a:solidFill>
                      <a:schemeClr val="bg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𝐴𝑣𝑒𝑟𝑎𝑔𝑒𝑂𝑟𝑑𝑒𝑟𝑉𝑎𝑙𝑢𝑒</m:t>
                    </m:r>
                  </m:oMath>
                </a14:m>
                <a:r>
                  <a:rPr lang="en-IN" dirty="0">
                    <a:solidFill>
                      <a:schemeClr val="bg1"/>
                    </a:solidFill>
                  </a:rPr>
                  <a:t>.</a:t>
                </a:r>
              </a:p>
              <a:p>
                <a:pPr lvl="1"/>
                <a:r>
                  <a:rPr lang="en-IN" dirty="0">
                    <a:solidFill>
                      <a:schemeClr val="bg1"/>
                    </a:solidFill>
                  </a:rPr>
                  <a:t>Generates probability predictions via .</a:t>
                </a:r>
                <a:r>
                  <a:rPr lang="en-IN" dirty="0" err="1">
                    <a:solidFill>
                      <a:schemeClr val="bg1"/>
                    </a:solidFill>
                  </a:rPr>
                  <a:t>predict_proba</a:t>
                </a:r>
                <a:r>
                  <a:rPr lang="en-IN" dirty="0">
                    <a:solidFill>
                      <a:schemeClr val="bg1"/>
                    </a:solidFill>
                  </a:rPr>
                  <a:t>() to power the live dashboard simulator.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1463039"/>
                <a:ext cx="4663440" cy="4154984"/>
              </a:xfrm>
              <a:prstGeom prst="rect">
                <a:avLst/>
              </a:prstGeom>
              <a:blipFill>
                <a:blip r:embed="rId3"/>
                <a:stretch>
                  <a:fillRect l="-3137" t="-1906" r="-3922" b="-23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29B9B-7555-14C7-9811-9711B49EF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67E5D1-CE46-7A68-0E6C-DC9E15770865}"/>
              </a:ext>
            </a:extLst>
          </p:cNvPr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CONSUMER IQ — SIMPLE &amp; CLEAR PRESENTATION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1. Methodology: Churn Prediction &amp; Simple Explainability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CDCE715-7005-161E-C9C4-664F80A0346B}"/>
              </a:ext>
            </a:extLst>
          </p:cNvPr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CE0723-5931-EED2-6CFD-D067F45626EF}"/>
              </a:ext>
            </a:extLst>
          </p:cNvPr>
          <p:cNvSpPr txBox="1"/>
          <p:nvPr/>
        </p:nvSpPr>
        <p:spPr>
          <a:xfrm>
            <a:off x="960120" y="1463039"/>
            <a:ext cx="4663440" cy="30469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Explainable AI </a:t>
            </a:r>
          </a:p>
          <a:p>
            <a:r>
              <a:rPr lang="en-IN" b="1" dirty="0">
                <a:solidFill>
                  <a:schemeClr val="bg1"/>
                </a:solidFill>
              </a:rPr>
              <a:t>ML Technique Used: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b="1" dirty="0">
                <a:solidFill>
                  <a:schemeClr val="bg1"/>
                </a:solidFill>
              </a:rPr>
              <a:t>SHAP </a:t>
            </a:r>
            <a:r>
              <a:rPr lang="en-IN" dirty="0">
                <a:solidFill>
                  <a:schemeClr val="bg1"/>
                </a:solidFill>
              </a:rPr>
              <a:t>Wraps the trained Random Forest model from Module 4.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Calculates Shapley values based on cooperative game theory to measure the exact directional push (positive or negative) each feature exerts on a customer's churn probability.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Generates global summary </a:t>
            </a:r>
            <a:r>
              <a:rPr lang="en-IN" dirty="0" err="1">
                <a:solidFill>
                  <a:schemeClr val="bg1"/>
                </a:solidFill>
              </a:rPr>
              <a:t>beeswarm</a:t>
            </a:r>
            <a:r>
              <a:rPr lang="en-IN" dirty="0">
                <a:solidFill>
                  <a:schemeClr val="bg1"/>
                </a:solidFill>
              </a:rPr>
              <a:t> plots and local waterfall charts for real-time slider inputs.</a:t>
            </a:r>
          </a:p>
        </p:txBody>
      </p:sp>
    </p:spTree>
    <p:extLst>
      <p:ext uri="{BB962C8B-B14F-4D97-AF65-F5344CB8AC3E}">
        <p14:creationId xmlns:p14="http://schemas.microsoft.com/office/powerpoint/2010/main" val="4145789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CONSUMER IQ — SIMPLE &amp; CLEAR PRESENTATION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2. System Design: How the App Works Under the Hood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2918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2918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2918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3528BE-2751-04C5-8A35-5D3EAACF1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1188720"/>
            <a:ext cx="10954512" cy="49646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rPr dirty="0"/>
              <a:t>CONSUMER IQ — SIMPLE &amp; CLEAR PRESENTATION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rPr dirty="0"/>
              <a:t>3. Tools &amp; Technologies Used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463039"/>
            <a:ext cx="46634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Data Processing Tools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Python 3.14 — Core language.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Pandas &amp; NumPy — Fast manipulation of tables and numbers.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OpenPyXL — Reading Excel files directly.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463039"/>
            <a:ext cx="46634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Machine Learning Tools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Scikit-Learn — For Random Forest ML &amp; K-Means clustering.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MLxtend (Apriori) — Finding items bought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023360"/>
            <a:ext cx="46634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Visualization &amp; Explainability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SHAP — Explaining model decisions in plain numbers.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Plotly &amp; Matplotlib — Rendering interactive charts and graphs.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4023360"/>
            <a:ext cx="46634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User Interface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Streamlit 1.62 — Interactive web dashboard framework.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Custom Dark CSS — Executive dark aesthetic.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CONSUMER IQ — SIMPLE &amp; CLEAR PRESENTATION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4. Implementation: Module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463039"/>
            <a:ext cx="4663440" cy="1128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rPr dirty="0"/>
              <a:t>1. real_etl_pipeline.py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dirty="0"/>
              <a:t>• Reads raw CSV/Excel files from UCI, Instacart, and </a:t>
            </a:r>
            <a:r>
              <a:rPr dirty="0" err="1"/>
              <a:t>Olist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dirty="0"/>
              <a:t>• Cleans, standardizes prices, and exports 1.71M row file.</a:t>
            </a:r>
            <a:endParaRPr lang="en-IN" dirty="0"/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lang="en-IN" sz="1300" dirty="0">
                <a:solidFill>
                  <a:srgbClr val="F8FAFC"/>
                </a:solidFill>
              </a:rPr>
              <a:t>No ML Model (Pandas Data Engineering)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463039"/>
            <a:ext cx="4663440" cy="1128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rPr dirty="0"/>
              <a:t>2. segmentation.py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dirty="0"/>
              <a:t>• Calculates RFM metrics per customer.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dirty="0"/>
              <a:t>• Groups customers into 4 business clusters.</a:t>
            </a:r>
            <a:endParaRPr lang="en-IN" dirty="0"/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lang="en-IN" sz="1300" b="1" dirty="0">
                <a:solidFill>
                  <a:srgbClr val="F8FAFC"/>
                </a:solidFill>
              </a:rPr>
              <a:t>K-Means Clustering</a:t>
            </a:r>
            <a:r>
              <a:rPr lang="en-IN" sz="1300" dirty="0">
                <a:solidFill>
                  <a:srgbClr val="F8FAFC"/>
                </a:solidFill>
              </a:rPr>
              <a:t> (Unsupervised Learning)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023360"/>
            <a:ext cx="4663440" cy="1128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rPr dirty="0"/>
              <a:t>3. churn_prediction.py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dirty="0"/>
              <a:t>• Preprocesses inputs (log1p + scaler).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dirty="0"/>
              <a:t>• Trains Random Forest and calculates real-time slider risk.</a:t>
            </a:r>
            <a:endParaRPr lang="en-IN" dirty="0"/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lang="en-IN" sz="1300" b="1" dirty="0">
                <a:solidFill>
                  <a:srgbClr val="F8FAFC"/>
                </a:solidFill>
              </a:rPr>
              <a:t>Random Forest Classifier</a:t>
            </a:r>
            <a:r>
              <a:rPr lang="en-IN" sz="1300" dirty="0">
                <a:solidFill>
                  <a:srgbClr val="F8FAFC"/>
                </a:solidFill>
              </a:rPr>
              <a:t> (Supervised Learning)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4032504"/>
            <a:ext cx="4663440" cy="1128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rPr dirty="0"/>
              <a:t>4. explainability.py &amp; app.py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dirty="0"/>
              <a:t>• Generates SHAP summary &amp; waterfall graphs.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dirty="0"/>
              <a:t>• Orchestrates 7 dashboard tabs in </a:t>
            </a:r>
            <a:r>
              <a:rPr dirty="0" err="1"/>
              <a:t>Streamlit</a:t>
            </a:r>
            <a:r>
              <a:rPr dirty="0"/>
              <a:t> UI.</a:t>
            </a:r>
            <a:endParaRPr lang="en-IN" dirty="0"/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lang="en-IN" sz="1300" b="1" dirty="0">
                <a:solidFill>
                  <a:srgbClr val="F8FAFC"/>
                </a:solidFill>
              </a:rPr>
              <a:t>SHAP </a:t>
            </a:r>
            <a:r>
              <a:rPr lang="en-IN" sz="1300" b="1" dirty="0" err="1">
                <a:solidFill>
                  <a:srgbClr val="F8FAFC"/>
                </a:solidFill>
              </a:rPr>
              <a:t>TreeExplainer</a:t>
            </a:r>
            <a:r>
              <a:rPr lang="en-IN" sz="1300" dirty="0">
                <a:solidFill>
                  <a:srgbClr val="F8FAFC"/>
                </a:solidFill>
              </a:rPr>
              <a:t> &amp; </a:t>
            </a:r>
            <a:r>
              <a:rPr lang="en-IN" sz="1300" b="1" dirty="0" err="1">
                <a:solidFill>
                  <a:srgbClr val="F8FAFC"/>
                </a:solidFill>
              </a:rPr>
              <a:t>Streamlit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rPr lang="en-US" dirty="0"/>
              <a:t>CONSUMER IQ — SIMPLE &amp; CLEAR PRESENTATION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rPr lang="en-US" dirty="0"/>
              <a:t>5. Results: What the System Discovered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B80260-8265-BE8B-2FD9-E21A262AE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1300479"/>
            <a:ext cx="10799775" cy="47271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444C6F-8F7B-F713-9BB8-87D636FAE3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9" r="2394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07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093ECC-8BEB-4546-A80D-0B4887662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3E4169-23A2-856C-09DD-4E5E567892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1"/>
          <a:stretch>
            <a:fillRect/>
          </a:stretch>
        </p:blipFill>
        <p:spPr>
          <a:xfrm>
            <a:off x="684575" y="685800"/>
            <a:ext cx="1082162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11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4D63BF-6C88-2D8D-5D8C-AEB065595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74" y="182598"/>
            <a:ext cx="11895851" cy="649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493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592" y="438911"/>
            <a:ext cx="10728655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rPr dirty="0"/>
              <a:t>CONSUMER IQ </a:t>
            </a:r>
            <a:endParaRPr lang="en-IN" dirty="0"/>
          </a:p>
          <a:p>
            <a:pPr>
              <a:defRPr sz="1000" b="1">
                <a:solidFill>
                  <a:srgbClr val="3B82F6"/>
                </a:solidFill>
              </a:defRPr>
            </a:pPr>
            <a:r>
              <a:rPr dirty="0"/>
              <a:t>6. Performance Evaluation: Model Testing &amp; Fixes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463039"/>
            <a:ext cx="4663440" cy="4480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Why Balanced Class Weights Matter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Unbalanced Model (Before): Accuracy was 92.7%, but Recall was 0%. The model predicted EVERY customer was active because churn was only 7.3%!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Balanced Model (After): By adding class_weight='balanced', Recall jumped to 70.5%.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Business Meaning: The model now catches 7 out of 10 churning customers in advance so marketing can send win-back discounts.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463039"/>
            <a:ext cx="4663440" cy="4480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Testing Customer Scenarios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 Order, $10 Spend =&gt; 65.9% (Medium/High Risk)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2 Orders, $50 Spend =&gt; 26.7% (Low Risk)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5 Orders, $250 Spend =&gt; 4.3% (Low Risk)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10 Orders, $600 Spend =&gt; 0.0% (Low Risk)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33 Orders, $2,380 Spend =&gt; 0.0% (Low Risk — Passed Target Test)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Key Observation: Churn risk drops smoothly as customer order count increases.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E3E269-8D4C-92E1-75CD-D827037A7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116CDE-520D-E028-1614-DB91B66ABAA5}"/>
              </a:ext>
            </a:extLst>
          </p:cNvPr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rPr dirty="0"/>
              <a:t>CONSUMER IQ 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rPr dirty="0"/>
              <a:t>6. Performance Evaluation: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552231-FF4C-8420-BCCC-445A3E8F6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185004"/>
              </p:ext>
            </p:extLst>
          </p:nvPr>
        </p:nvGraphicFramePr>
        <p:xfrm>
          <a:off x="1026160" y="1359746"/>
          <a:ext cx="8128001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92347856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630519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0043334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3674656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295680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743372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62005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Dataset Combination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Unique Customers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Model Accuracy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F1-Score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ROC-AUC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Precision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Recall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07387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Instacart Only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6,040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86.9%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0.893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0.948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95.7%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83.8%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857086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Instacart + UCI Retail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11,918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80.0%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0.806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0.888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83.2%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78.3%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940382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UCI Retail + Olist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100,867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60.6%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0.707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0.601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63.3%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80.0%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42712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Olist Only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94,989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55.2%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0.593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0.592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65.8%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54.0%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034329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Full Unified (All 3)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106,907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60.0%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0.677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0.627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65.4%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70.1%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352269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161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986</Words>
  <Application>Microsoft Office PowerPoint</Application>
  <PresentationFormat>Widescreen</PresentationFormat>
  <Paragraphs>126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 UMESH 2420030027</cp:lastModifiedBy>
  <cp:revision>6</cp:revision>
  <dcterms:created xsi:type="dcterms:W3CDTF">2013-01-27T09:14:16Z</dcterms:created>
  <dcterms:modified xsi:type="dcterms:W3CDTF">2026-09-21T05:48:19Z</dcterms:modified>
  <cp:category/>
</cp:coreProperties>
</file>